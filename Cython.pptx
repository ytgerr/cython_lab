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76" r:id="rId1"/>
  </p:sldMasterIdLst>
  <p:notesMasterIdLst>
    <p:notesMasterId r:id="rId11"/>
  </p:notesMasterIdLst>
  <p:sldIdLst>
    <p:sldId id="256" r:id="rId2"/>
    <p:sldId id="264" r:id="rId3"/>
    <p:sldId id="265" r:id="rId4"/>
    <p:sldId id="266" r:id="rId5"/>
    <p:sldId id="259" r:id="rId6"/>
    <p:sldId id="260" r:id="rId7"/>
    <p:sldId id="261" r:id="rId8"/>
    <p:sldId id="267" r:id="rId9"/>
    <p:sldId id="268" r:id="rId10"/>
  </p:sldIdLst>
  <p:sldSz cx="14630400" cy="8229600"/>
  <p:notesSz cx="8229600" cy="146304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Calibri Light" panose="020F0302020204030204" pitchFamily="34" charset="0"/>
      <p:regular r:id="rId16"/>
      <p:italic r:id="rId17"/>
    </p:embeddedFon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Inter Light" panose="020B0604020202020204" charset="0"/>
      <p:regular r:id="rId22"/>
    </p:embeddedFont>
    <p:embeddedFont>
      <p:font typeface="Montserrat Medium" panose="00000600000000000000" pitchFamily="2" charset="-52"/>
      <p:regular r:id="rId23"/>
      <p:italic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9F7"/>
    <a:srgbClr val="F5F5F5"/>
    <a:srgbClr val="EDE7F7"/>
    <a:srgbClr val="388E3C"/>
    <a:srgbClr val="D7D9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27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38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9845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7502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3307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41329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13799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30368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39996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2643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40544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75385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02096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08636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72187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42729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93927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99220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46361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67843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3205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828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91" r:id="rId13"/>
    <p:sldLayoutId id="2147483692" r:id="rId14"/>
    <p:sldLayoutId id="2147483693" r:id="rId15"/>
    <p:sldLayoutId id="2147483694" r:id="rId16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D0BB69D-BED5-A04C-8D21-6092878C29A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66000"/>
          </a:blip>
          <a:srcRect l="-2003" r="11899"/>
          <a:stretch/>
        </p:blipFill>
        <p:spPr>
          <a:xfrm>
            <a:off x="8249445" y="0"/>
            <a:ext cx="6380955" cy="8229600"/>
          </a:xfrm>
          <a:prstGeom prst="rect">
            <a:avLst/>
          </a:prstGeom>
          <a:noFill/>
          <a:ln>
            <a:noFill/>
          </a:ln>
          <a:effectLst>
            <a:innerShdw blurRad="63500" dist="800100" dir="13500000">
              <a:schemeClr val="bg1">
                <a:alpha val="50000"/>
              </a:schemeClr>
            </a:innerShdw>
          </a:effectLst>
          <a:scene3d>
            <a:camera prst="orthographicFront"/>
            <a:lightRig rig="threePt" dir="t"/>
          </a:scene3d>
          <a:sp3d contourW="12700">
            <a:contourClr>
              <a:srgbClr val="F5F5F5"/>
            </a:contourClr>
          </a:sp3d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293B2D26-2572-C84F-B448-BDA043AD8181}"/>
              </a:ext>
            </a:extLst>
          </p:cNvPr>
          <p:cNvSpPr/>
          <p:nvPr/>
        </p:nvSpPr>
        <p:spPr>
          <a:xfrm>
            <a:off x="621545" y="2888297"/>
            <a:ext cx="7455655" cy="1402596"/>
          </a:xfrm>
          <a:prstGeom prst="roundRect">
            <a:avLst>
              <a:gd name="adj" fmla="val 24363"/>
            </a:avLst>
          </a:prstGeom>
          <a:solidFill>
            <a:srgbClr val="E6E9F7">
              <a:alpha val="32000"/>
            </a:srgbClr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2" name="Text 0"/>
          <p:cNvSpPr/>
          <p:nvPr/>
        </p:nvSpPr>
        <p:spPr>
          <a:xfrm>
            <a:off x="793789" y="1860030"/>
            <a:ext cx="10431929" cy="243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2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Cython</a:t>
            </a:r>
            <a:r>
              <a:rPr lang="en-US" sz="7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</a:t>
            </a:r>
            <a:endParaRPr lang="ru-RU" sz="72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indent="0" algn="l">
              <a:buNone/>
            </a:pPr>
            <a:r>
              <a:rPr lang="en-US" sz="72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от</a:t>
            </a:r>
            <a:r>
              <a:rPr lang="en-US" sz="7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Python </a:t>
            </a:r>
            <a:r>
              <a:rPr lang="en-US" sz="72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до</a:t>
            </a:r>
            <a:r>
              <a:rPr lang="en-US" sz="7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C</a:t>
            </a:r>
          </a:p>
        </p:txBody>
      </p:sp>
      <p:sp>
        <p:nvSpPr>
          <p:cNvPr id="3" name="Text 1"/>
          <p:cNvSpPr/>
          <p:nvPr/>
        </p:nvSpPr>
        <p:spPr>
          <a:xfrm>
            <a:off x="793790" y="392799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923D7B7-65F5-F847-B1CB-085BBEAE0E9B}"/>
              </a:ext>
            </a:extLst>
          </p:cNvPr>
          <p:cNvSpPr/>
          <p:nvPr/>
        </p:nvSpPr>
        <p:spPr>
          <a:xfrm>
            <a:off x="8077200" y="0"/>
            <a:ext cx="52089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6">
            <a:extLst>
              <a:ext uri="{FF2B5EF4-FFF2-40B4-BE49-F238E27FC236}">
                <a16:creationId xmlns:a16="http://schemas.microsoft.com/office/drawing/2014/main" id="{44C7EC0B-D746-8A4B-90BA-B7786798A0FE}"/>
              </a:ext>
            </a:extLst>
          </p:cNvPr>
          <p:cNvSpPr/>
          <p:nvPr/>
        </p:nvSpPr>
        <p:spPr>
          <a:xfrm>
            <a:off x="593822" y="3809757"/>
            <a:ext cx="2545584" cy="1068020"/>
          </a:xfrm>
          <a:prstGeom prst="roundRect">
            <a:avLst>
              <a:gd name="adj" fmla="val 8319"/>
            </a:avLst>
          </a:prstGeom>
          <a:solidFill>
            <a:schemeClr val="accent6">
              <a:lumMod val="40000"/>
              <a:lumOff val="60000"/>
              <a:alpha val="70000"/>
            </a:schemeClr>
          </a:solidFill>
          <a:ln/>
        </p:spPr>
      </p:sp>
      <p:sp>
        <p:nvSpPr>
          <p:cNvPr id="28" name="Shape 6">
            <a:extLst>
              <a:ext uri="{FF2B5EF4-FFF2-40B4-BE49-F238E27FC236}">
                <a16:creationId xmlns:a16="http://schemas.microsoft.com/office/drawing/2014/main" id="{5E654BF0-81F6-684D-9EC8-0A4C79BAF864}"/>
              </a:ext>
            </a:extLst>
          </p:cNvPr>
          <p:cNvSpPr/>
          <p:nvPr/>
        </p:nvSpPr>
        <p:spPr>
          <a:xfrm>
            <a:off x="3956340" y="2832683"/>
            <a:ext cx="5120641" cy="3926562"/>
          </a:xfrm>
          <a:prstGeom prst="roundRect">
            <a:avLst>
              <a:gd name="adj" fmla="val 8319"/>
            </a:avLst>
          </a:prstGeom>
          <a:solidFill>
            <a:srgbClr val="C6C9DC">
              <a:alpha val="70000"/>
            </a:srgbClr>
          </a:solidFill>
          <a:ln/>
        </p:spPr>
      </p:sp>
      <p:sp>
        <p:nvSpPr>
          <p:cNvPr id="2" name="Text 0"/>
          <p:cNvSpPr/>
          <p:nvPr/>
        </p:nvSpPr>
        <p:spPr>
          <a:xfrm>
            <a:off x="512064" y="263347"/>
            <a:ext cx="136062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50" dirty="0">
                <a:solidFill>
                  <a:srgbClr val="74767D"/>
                </a:solidFill>
                <a:latin typeface="Montserrat Medium" pitchFamily="34" charset="0"/>
              </a:rPr>
              <a:t>1. </a:t>
            </a:r>
            <a:r>
              <a:rPr lang="en-US" sz="4450" dirty="0" err="1">
                <a:solidFill>
                  <a:srgbClr val="74767D"/>
                </a:solidFill>
                <a:latin typeface="Montserrat Medium" pitchFamily="34" charset="0"/>
              </a:rPr>
              <a:t>Цена</a:t>
            </a:r>
            <a:r>
              <a:rPr lang="en-US" sz="4450" dirty="0">
                <a:solidFill>
                  <a:srgbClr val="74767D"/>
                </a:solidFill>
                <a:latin typeface="Montserrat Medium" pitchFamily="34" charset="0"/>
              </a:rPr>
              <a:t> </a:t>
            </a:r>
            <a:r>
              <a:rPr lang="en-US" sz="4450" dirty="0" err="1">
                <a:solidFill>
                  <a:srgbClr val="74767D"/>
                </a:solidFill>
                <a:latin typeface="Montserrat Medium" pitchFamily="34" charset="0"/>
              </a:rPr>
              <a:t>объектов</a:t>
            </a:r>
            <a:r>
              <a:rPr lang="en-US" sz="4450" dirty="0">
                <a:solidFill>
                  <a:srgbClr val="74767D"/>
                </a:solidFill>
                <a:latin typeface="Montserrat Medium" pitchFamily="34" charset="0"/>
              </a:rPr>
              <a:t> Python (</a:t>
            </a:r>
            <a:r>
              <a:rPr lang="en-US" sz="4450" dirty="0" err="1">
                <a:solidFill>
                  <a:srgbClr val="74767D"/>
                </a:solidFill>
                <a:latin typeface="Montserrat Medium" pitchFamily="34" charset="0"/>
              </a:rPr>
              <a:t>размеры</a:t>
            </a:r>
            <a:r>
              <a:rPr lang="en-US" sz="4450" dirty="0">
                <a:solidFill>
                  <a:srgbClr val="74767D"/>
                </a:solidFill>
                <a:latin typeface="Montserrat Medium" pitchFamily="34" charset="0"/>
              </a:rPr>
              <a:t>)</a:t>
            </a:r>
          </a:p>
        </p:txBody>
      </p:sp>
      <p:sp>
        <p:nvSpPr>
          <p:cNvPr id="3" name="Text 1"/>
          <p:cNvSpPr/>
          <p:nvPr/>
        </p:nvSpPr>
        <p:spPr>
          <a:xfrm>
            <a:off x="593822" y="1470355"/>
            <a:ext cx="13606272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74767D"/>
                </a:solidFill>
                <a:latin typeface="Montserrat Medium" pitchFamily="34" charset="0"/>
              </a:rPr>
              <a:t>Python хранит не значения, а объекты со служебной </a:t>
            </a:r>
            <a:r>
              <a:rPr lang="en-US" sz="2200" dirty="0" err="1">
                <a:solidFill>
                  <a:srgbClr val="74767D"/>
                </a:solidFill>
                <a:latin typeface="Montserrat Medium" pitchFamily="34" charset="0"/>
              </a:rPr>
              <a:t>информацией</a:t>
            </a:r>
            <a:r>
              <a:rPr lang="en-US" sz="2200" dirty="0">
                <a:solidFill>
                  <a:srgbClr val="74767D"/>
                </a:solidFill>
                <a:latin typeface="Montserrat Medium" pitchFamily="34" charset="0"/>
              </a:rPr>
              <a:t>.</a:t>
            </a:r>
          </a:p>
        </p:txBody>
      </p:sp>
      <p:sp>
        <p:nvSpPr>
          <p:cNvPr id="4" name="Text 2"/>
          <p:cNvSpPr/>
          <p:nvPr/>
        </p:nvSpPr>
        <p:spPr>
          <a:xfrm>
            <a:off x="1051714" y="3084206"/>
            <a:ext cx="1568013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80" b="1" dirty="0">
                <a:solidFill>
                  <a:srgbClr val="388E3C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C (double)</a:t>
            </a:r>
            <a:endParaRPr lang="en-US" sz="208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870925" y="2250273"/>
            <a:ext cx="5120640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80" b="1" dirty="0">
                <a:solidFill>
                  <a:srgbClr val="6A1B9A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Python (float)</a:t>
            </a:r>
            <a:endParaRPr lang="en-US" sz="208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56370" y="4087735"/>
            <a:ext cx="1358702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8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double x;</a:t>
            </a:r>
            <a:endParaRPr lang="en-US" sz="208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52032" y="5096018"/>
            <a:ext cx="146304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20" b="1" dirty="0">
                <a:solidFill>
                  <a:srgbClr val="388E3C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8 байт</a:t>
            </a:r>
            <a:endParaRPr lang="en-US" sz="192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197927" y="4087735"/>
            <a:ext cx="614477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520" dirty="0">
                <a:solidFill>
                  <a:srgbClr val="BBBBB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endParaRPr lang="en-US" sz="352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309837" y="3084206"/>
            <a:ext cx="482803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840" dirty="0">
                <a:solidFill>
                  <a:srgbClr val="333333"/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x = 1.0</a:t>
            </a:r>
            <a:endParaRPr lang="en-US" sz="184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840" dirty="0">
                <a:solidFill>
                  <a:srgbClr val="888888"/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heap object</a:t>
            </a:r>
            <a:endParaRPr lang="en-US" sz="184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840" dirty="0">
                <a:solidFill>
                  <a:srgbClr val="333333"/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 </a:t>
            </a:r>
            <a:endParaRPr lang="en-US" sz="184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840" dirty="0">
                <a:solidFill>
                  <a:srgbClr val="333333"/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PyFloatObject (CPython 64-bit)</a:t>
            </a:r>
            <a:endParaRPr lang="en-US" sz="184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309837" y="4400942"/>
            <a:ext cx="490118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typedef struct {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6A1B9A"/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  Py_ssize_t    *ob_refcnt;  // 8 байт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6A1B9A"/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  PyTypeObject  *ob_type;   // 8 байт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6A1B9A"/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  double         ob_fval;   // 8 байт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} PyFloatObject;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090381" y="5863982"/>
            <a:ext cx="5193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80" b="1" dirty="0">
                <a:solidFill>
                  <a:srgbClr val="6A1B9A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≈ 24 байта (минимум)</a:t>
            </a:r>
            <a:endParaRPr lang="en-US" sz="168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869389" y="2806229"/>
            <a:ext cx="555955" cy="555955"/>
          </a:xfrm>
          <a:prstGeom prst="rect">
            <a:avLst/>
          </a:prstGeom>
          <a:solidFill>
            <a:srgbClr val="EDE7F6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27757" y="2806229"/>
            <a:ext cx="327246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80" dirty="0">
                <a:solidFill>
                  <a:srgbClr val="444455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Размер одного float-объекта</a:t>
            </a:r>
            <a:endParaRPr lang="en-US" sz="168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80" dirty="0">
                <a:solidFill>
                  <a:srgbClr val="444455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в CPython 64-bit</a:t>
            </a:r>
            <a:endParaRPr lang="en-US" sz="168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527757" y="3523118"/>
            <a:ext cx="292608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565C0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≈ 24 байта</a:t>
            </a:r>
            <a:endParaRPr lang="en-US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527757" y="4071758"/>
            <a:ext cx="327246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40" i="1" dirty="0">
                <a:solidFill>
                  <a:srgbClr val="888888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(+ накладные расходы аллокатора)</a:t>
            </a:r>
            <a:endParaRPr lang="en-US" sz="144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893915" y="4877291"/>
            <a:ext cx="555955" cy="555955"/>
          </a:xfrm>
          <a:prstGeom prst="rect">
            <a:avLst/>
          </a:prstGeom>
          <a:solidFill>
            <a:srgbClr val="F3F0FF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69389" y="4864360"/>
            <a:ext cx="555955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56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598885" y="4752071"/>
            <a:ext cx="2926080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80" dirty="0">
                <a:solidFill>
                  <a:srgbClr val="44445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Матрица 128×128 </a:t>
            </a:r>
            <a:r>
              <a:rPr lang="en-US" sz="1680" dirty="0" err="1">
                <a:solidFill>
                  <a:srgbClr val="44445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чисел</a:t>
            </a:r>
            <a:endParaRPr lang="en-US" sz="1680" dirty="0">
              <a:solidFill>
                <a:srgbClr val="44445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527757" y="5234875"/>
            <a:ext cx="315214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60" dirty="0">
                <a:solidFill>
                  <a:srgbClr val="444455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• NumPy (float64): </a:t>
            </a:r>
            <a:r>
              <a:rPr lang="en-US" sz="1760" b="1" dirty="0">
                <a:solidFill>
                  <a:srgbClr val="1565C0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128 КВ</a:t>
            </a:r>
            <a:endParaRPr lang="en-US" sz="176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527757" y="5673787"/>
            <a:ext cx="315214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80" dirty="0">
                <a:solidFill>
                  <a:srgbClr val="444455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• Python (float objects): </a:t>
            </a:r>
            <a:r>
              <a:rPr lang="en-US" sz="1680" b="1" dirty="0">
                <a:solidFill>
                  <a:srgbClr val="E65100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~500 КВ</a:t>
            </a:r>
            <a:endParaRPr lang="en-US" sz="168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533888" y="6156590"/>
            <a:ext cx="358444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20" dirty="0">
                <a:solidFill>
                  <a:srgbClr val="888888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Почти в 4 раза больше памяти</a:t>
            </a:r>
            <a:endParaRPr lang="en-US" sz="152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2" name="Куб 31">
            <a:extLst>
              <a:ext uri="{FF2B5EF4-FFF2-40B4-BE49-F238E27FC236}">
                <a16:creationId xmlns:a16="http://schemas.microsoft.com/office/drawing/2014/main" id="{72E607B0-4967-6842-96C0-F80671D0FF6D}"/>
              </a:ext>
            </a:extLst>
          </p:cNvPr>
          <p:cNvSpPr/>
          <p:nvPr/>
        </p:nvSpPr>
        <p:spPr>
          <a:xfrm>
            <a:off x="9976427" y="2933395"/>
            <a:ext cx="341877" cy="324368"/>
          </a:xfrm>
          <a:prstGeom prst="cube">
            <a:avLst/>
          </a:prstGeom>
          <a:solidFill>
            <a:srgbClr val="EDE7F7"/>
          </a:solidFill>
          <a:ln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8" name="Рамка 37">
            <a:extLst>
              <a:ext uri="{FF2B5EF4-FFF2-40B4-BE49-F238E27FC236}">
                <a16:creationId xmlns:a16="http://schemas.microsoft.com/office/drawing/2014/main" id="{FDAD3572-50D6-7446-9D3C-4D025F2B1E8A}"/>
              </a:ext>
            </a:extLst>
          </p:cNvPr>
          <p:cNvSpPr/>
          <p:nvPr/>
        </p:nvSpPr>
        <p:spPr>
          <a:xfrm>
            <a:off x="9936490" y="4948750"/>
            <a:ext cx="170405" cy="413041"/>
          </a:xfrm>
          <a:prstGeom prst="frame">
            <a:avLst/>
          </a:prstGeom>
          <a:solidFill>
            <a:schemeClr val="accent1">
              <a:lumMod val="60000"/>
              <a:lumOff val="40000"/>
            </a:schemeClr>
          </a:solidFill>
          <a:ln w="0">
            <a:solidFill>
              <a:schemeClr val="accent1">
                <a:shade val="50000"/>
                <a:alpha val="6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0" name="Рамка 39">
            <a:extLst>
              <a:ext uri="{FF2B5EF4-FFF2-40B4-BE49-F238E27FC236}">
                <a16:creationId xmlns:a16="http://schemas.microsoft.com/office/drawing/2014/main" id="{1D03F78E-EBA4-CD4E-8CF9-AB51BF6AEAE4}"/>
              </a:ext>
            </a:extLst>
          </p:cNvPr>
          <p:cNvSpPr/>
          <p:nvPr/>
        </p:nvSpPr>
        <p:spPr>
          <a:xfrm>
            <a:off x="10089909" y="4948752"/>
            <a:ext cx="170405" cy="413041"/>
          </a:xfrm>
          <a:prstGeom prst="frame">
            <a:avLst/>
          </a:prstGeom>
          <a:solidFill>
            <a:schemeClr val="accent1">
              <a:lumMod val="60000"/>
              <a:lumOff val="40000"/>
            </a:schemeClr>
          </a:solidFill>
          <a:ln w="0">
            <a:solidFill>
              <a:schemeClr val="accent1">
                <a:shade val="50000"/>
                <a:alpha val="6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1" name="Рамка 40">
            <a:extLst>
              <a:ext uri="{FF2B5EF4-FFF2-40B4-BE49-F238E27FC236}">
                <a16:creationId xmlns:a16="http://schemas.microsoft.com/office/drawing/2014/main" id="{F6B3A53E-347B-054C-9EFC-3308EB68E7FC}"/>
              </a:ext>
            </a:extLst>
          </p:cNvPr>
          <p:cNvSpPr/>
          <p:nvPr/>
        </p:nvSpPr>
        <p:spPr>
          <a:xfrm>
            <a:off x="10238924" y="4948751"/>
            <a:ext cx="170405" cy="413041"/>
          </a:xfrm>
          <a:prstGeom prst="frame">
            <a:avLst/>
          </a:prstGeom>
          <a:solidFill>
            <a:schemeClr val="accent1">
              <a:lumMod val="60000"/>
              <a:lumOff val="40000"/>
            </a:schemeClr>
          </a:solidFill>
          <a:ln w="0">
            <a:solidFill>
              <a:schemeClr val="accent1">
                <a:shade val="50000"/>
                <a:alpha val="6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2" name="Рамка 41">
            <a:extLst>
              <a:ext uri="{FF2B5EF4-FFF2-40B4-BE49-F238E27FC236}">
                <a16:creationId xmlns:a16="http://schemas.microsoft.com/office/drawing/2014/main" id="{E42F146B-89F7-3540-B8BA-9BE661F5684E}"/>
              </a:ext>
            </a:extLst>
          </p:cNvPr>
          <p:cNvSpPr/>
          <p:nvPr/>
        </p:nvSpPr>
        <p:spPr>
          <a:xfrm rot="16200000">
            <a:off x="10087707" y="4918850"/>
            <a:ext cx="170405" cy="472837"/>
          </a:xfrm>
          <a:prstGeom prst="frame">
            <a:avLst/>
          </a:prstGeom>
          <a:solidFill>
            <a:schemeClr val="accent1">
              <a:lumMod val="60000"/>
              <a:lumOff val="40000"/>
            </a:schemeClr>
          </a:solidFill>
          <a:ln w="0">
            <a:solidFill>
              <a:schemeClr val="accent1">
                <a:shade val="50000"/>
                <a:alpha val="6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2092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6">
            <a:extLst>
              <a:ext uri="{FF2B5EF4-FFF2-40B4-BE49-F238E27FC236}">
                <a16:creationId xmlns:a16="http://schemas.microsoft.com/office/drawing/2014/main" id="{6F3536A0-AA8B-0F4E-85AD-7CCF0B8E7D32}"/>
              </a:ext>
            </a:extLst>
          </p:cNvPr>
          <p:cNvSpPr/>
          <p:nvPr/>
        </p:nvSpPr>
        <p:spPr>
          <a:xfrm>
            <a:off x="518801" y="1880006"/>
            <a:ext cx="4967599" cy="1429393"/>
          </a:xfrm>
          <a:prstGeom prst="roundRect">
            <a:avLst>
              <a:gd name="adj" fmla="val 8319"/>
            </a:avLst>
          </a:prstGeom>
          <a:solidFill>
            <a:srgbClr val="F5F5F5"/>
          </a:solidFill>
          <a:ln/>
        </p:spPr>
      </p:sp>
      <p:sp>
        <p:nvSpPr>
          <p:cNvPr id="32" name="Shape 6">
            <a:extLst>
              <a:ext uri="{FF2B5EF4-FFF2-40B4-BE49-F238E27FC236}">
                <a16:creationId xmlns:a16="http://schemas.microsoft.com/office/drawing/2014/main" id="{37055407-F02F-4247-8C77-A54841FE3CAD}"/>
              </a:ext>
            </a:extLst>
          </p:cNvPr>
          <p:cNvSpPr/>
          <p:nvPr/>
        </p:nvSpPr>
        <p:spPr>
          <a:xfrm>
            <a:off x="409073" y="3464481"/>
            <a:ext cx="5077327" cy="4460804"/>
          </a:xfrm>
          <a:prstGeom prst="roundRect">
            <a:avLst>
              <a:gd name="adj" fmla="val 8319"/>
            </a:avLst>
          </a:prstGeom>
          <a:solidFill>
            <a:schemeClr val="accent6">
              <a:lumMod val="20000"/>
              <a:lumOff val="80000"/>
              <a:alpha val="70000"/>
            </a:schemeClr>
          </a:solidFill>
          <a:ln/>
        </p:spPr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58D04A86-971E-B041-BD4B-06CE1D9E0DE2}"/>
              </a:ext>
            </a:extLst>
          </p:cNvPr>
          <p:cNvSpPr/>
          <p:nvPr/>
        </p:nvSpPr>
        <p:spPr>
          <a:xfrm>
            <a:off x="5705856" y="3423512"/>
            <a:ext cx="8339328" cy="4501773"/>
          </a:xfrm>
          <a:prstGeom prst="roundRect">
            <a:avLst>
              <a:gd name="adj" fmla="val 8319"/>
            </a:avLst>
          </a:prstGeom>
          <a:solidFill>
            <a:srgbClr val="C6C9DC">
              <a:alpha val="70000"/>
            </a:srgbClr>
          </a:solidFill>
          <a:ln/>
        </p:spPr>
      </p:sp>
      <p:sp>
        <p:nvSpPr>
          <p:cNvPr id="2" name="Text 0"/>
          <p:cNvSpPr/>
          <p:nvPr/>
        </p:nvSpPr>
        <p:spPr>
          <a:xfrm>
            <a:off x="512064" y="263347"/>
            <a:ext cx="136062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50" dirty="0">
                <a:solidFill>
                  <a:srgbClr val="74767D"/>
                </a:solidFill>
                <a:latin typeface="Montserrat Medium" pitchFamily="34" charset="0"/>
              </a:rPr>
              <a:t>2. Цена динамической типизации (</a:t>
            </a:r>
            <a:r>
              <a:rPr lang="en-US" sz="4450" dirty="0" err="1">
                <a:solidFill>
                  <a:srgbClr val="74767D"/>
                </a:solidFill>
                <a:latin typeface="Montserrat Medium" pitchFamily="34" charset="0"/>
              </a:rPr>
              <a:t>боксинг</a:t>
            </a:r>
            <a:r>
              <a:rPr lang="en-US" sz="4450" dirty="0">
                <a:solidFill>
                  <a:srgbClr val="74767D"/>
                </a:solidFill>
                <a:latin typeface="Montserrat Medium" pitchFamily="34" charset="0"/>
              </a:rPr>
              <a:t>)</a:t>
            </a:r>
          </a:p>
        </p:txBody>
      </p:sp>
      <p:sp>
        <p:nvSpPr>
          <p:cNvPr id="3" name="Text 1"/>
          <p:cNvSpPr/>
          <p:nvPr/>
        </p:nvSpPr>
        <p:spPr>
          <a:xfrm>
            <a:off x="518801" y="1195855"/>
            <a:ext cx="13606272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solidFill>
                  <a:srgbClr val="74767D"/>
                </a:solidFill>
                <a:latin typeface="Montserrat Medium" pitchFamily="34" charset="0"/>
              </a:rPr>
              <a:t>Арифметика в Python — это операции над объектами, а не над «сырыми» </a:t>
            </a:r>
            <a:r>
              <a:rPr lang="en-US" sz="2200" dirty="0" err="1">
                <a:solidFill>
                  <a:srgbClr val="74767D"/>
                </a:solidFill>
                <a:latin typeface="Montserrat Medium" pitchFamily="34" charset="0"/>
              </a:rPr>
              <a:t>числами</a:t>
            </a:r>
            <a:r>
              <a:rPr lang="en-US" sz="2080" dirty="0">
                <a:solidFill>
                  <a:srgbClr val="444455"/>
                </a:solidFill>
                <a:latin typeface="Calibri" pitchFamily="34" charset="0"/>
                <a:cs typeface="Calibri" pitchFamily="34" charset="-120"/>
              </a:rPr>
              <a:t>.</a:t>
            </a:r>
            <a:endParaRPr lang="en-US" sz="2080" dirty="0"/>
          </a:p>
        </p:txBody>
      </p:sp>
      <p:sp>
        <p:nvSpPr>
          <p:cNvPr id="5" name="Text 3"/>
          <p:cNvSpPr/>
          <p:nvPr/>
        </p:nvSpPr>
        <p:spPr>
          <a:xfrm>
            <a:off x="804672" y="2077517"/>
            <a:ext cx="5120640" cy="108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920" dirty="0">
                <a:solidFill>
                  <a:srgbClr val="333333"/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a = 1.5</a:t>
            </a:r>
            <a:endParaRPr lang="en-US" sz="192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920" dirty="0">
                <a:solidFill>
                  <a:srgbClr val="333333"/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b = 2.5</a:t>
            </a:r>
            <a:endParaRPr lang="en-US" sz="192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920" dirty="0">
                <a:solidFill>
                  <a:srgbClr val="333333"/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c = a + b</a:t>
            </a:r>
            <a:endParaRPr lang="en-US" sz="192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12064" y="3540557"/>
            <a:ext cx="4901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20" b="1" dirty="0">
                <a:solidFill>
                  <a:srgbClr val="388E3C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В С (концептуально)</a:t>
            </a:r>
            <a:endParaRPr lang="en-US" sz="192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12064" y="4125773"/>
            <a:ext cx="4901184" cy="20483"/>
          </a:xfrm>
          <a:prstGeom prst="rect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4301338"/>
            <a:ext cx="219456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LOAD </a:t>
            </a:r>
            <a:r>
              <a:rPr lang="en-US" sz="2000" dirty="0">
                <a:solidFill>
                  <a:srgbClr val="388E3C"/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a</a:t>
            </a:r>
            <a:endParaRPr lang="en-US" sz="2000" dirty="0">
              <a:solidFill>
                <a:srgbClr val="388E3C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LOAD </a:t>
            </a:r>
            <a:r>
              <a:rPr lang="en-US" sz="2000" dirty="0">
                <a:solidFill>
                  <a:srgbClr val="388E3C"/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b</a:t>
            </a:r>
            <a:endParaRPr lang="en-US" sz="2000" dirty="0">
              <a:solidFill>
                <a:srgbClr val="388E3C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FADD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STORE </a:t>
            </a:r>
            <a:r>
              <a:rPr lang="en-US" sz="2000" dirty="0">
                <a:solidFill>
                  <a:srgbClr val="388E3C"/>
                </a:solidFill>
                <a:latin typeface="Consolas" panose="020B0609020204030204" pitchFamily="49" charset="0"/>
                <a:ea typeface="Consolas" pitchFamily="34" charset="-122"/>
                <a:cs typeface="Consolas" panose="020B0609020204030204" pitchFamily="49" charset="0"/>
              </a:rPr>
              <a:t>c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06624" y="4828032"/>
            <a:ext cx="2414016" cy="1243584"/>
          </a:xfrm>
          <a:prstGeom prst="roundRect">
            <a:avLst>
              <a:gd name="adj" fmla="val 9412"/>
            </a:avLst>
          </a:prstGeom>
          <a:solidFill>
            <a:srgbClr val="F1F8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35885" y="4857293"/>
            <a:ext cx="2355494" cy="1185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20" dirty="0">
                <a:solidFill>
                  <a:srgbClr val="388E3C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CPU выполняет</a:t>
            </a:r>
            <a:endParaRPr lang="en-US" sz="152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sz="1520" dirty="0">
                <a:solidFill>
                  <a:srgbClr val="388E3C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одно сложение</a:t>
            </a:r>
            <a:endParaRPr lang="en-US" sz="152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sz="1520" dirty="0">
                <a:solidFill>
                  <a:srgbClr val="388E3C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над числами.</a:t>
            </a:r>
            <a:endParaRPr lang="en-US" sz="152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705856" y="3540557"/>
            <a:ext cx="8339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20" b="1" dirty="0">
                <a:solidFill>
                  <a:srgbClr val="6A1B9A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В Python (что происходит)</a:t>
            </a:r>
            <a:endParaRPr lang="en-US" sz="192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705856" y="4125773"/>
            <a:ext cx="8339328" cy="20483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25312" y="4389120"/>
            <a:ext cx="380390" cy="380390"/>
          </a:xfrm>
          <a:prstGeom prst="ellipse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25312" y="4389120"/>
            <a:ext cx="38039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40" b="1" dirty="0">
                <a:solidFill>
                  <a:srgbClr val="FFFFFF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1</a:t>
            </a:r>
            <a:endParaRPr lang="en-US" sz="144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37376" y="4301338"/>
            <a:ext cx="7388352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40" dirty="0">
                <a:solidFill>
                  <a:srgbClr val="1A1A2E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LOAD → получить PyFloatObject* для a и b</a:t>
            </a:r>
            <a:endParaRPr lang="en-US" sz="184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925312" y="5003597"/>
            <a:ext cx="380390" cy="380390"/>
          </a:xfrm>
          <a:prstGeom prst="ellipse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25312" y="5003597"/>
            <a:ext cx="38039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40" b="1" dirty="0">
                <a:solidFill>
                  <a:srgbClr val="FFFFFF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2</a:t>
            </a:r>
            <a:endParaRPr lang="en-US" sz="144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37376" y="4915815"/>
            <a:ext cx="7388352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40" dirty="0">
                <a:solidFill>
                  <a:srgbClr val="1A1A2E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Проверить типы (PyFloat_Check)</a:t>
            </a:r>
            <a:endParaRPr lang="en-US" sz="184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925312" y="5618074"/>
            <a:ext cx="380390" cy="380390"/>
          </a:xfrm>
          <a:prstGeom prst="ellipse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25312" y="5618074"/>
            <a:ext cx="38039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40" b="1" dirty="0">
                <a:solidFill>
                  <a:srgbClr val="FFFFFF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3</a:t>
            </a:r>
            <a:endParaRPr lang="en-US" sz="144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37376" y="5530291"/>
            <a:ext cx="7388352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40" dirty="0">
                <a:solidFill>
                  <a:srgbClr val="1A1A2E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Извлечь значения (обратиться к ob_fval)</a:t>
            </a:r>
            <a:endParaRPr lang="en-US" sz="184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925312" y="6232551"/>
            <a:ext cx="380390" cy="380390"/>
          </a:xfrm>
          <a:prstGeom prst="ellipse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25312" y="6232551"/>
            <a:ext cx="38039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40" b="1" dirty="0">
                <a:solidFill>
                  <a:srgbClr val="FFFFFF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4</a:t>
            </a:r>
            <a:endParaRPr lang="en-US" sz="144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37376" y="6144768"/>
            <a:ext cx="7388352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40" dirty="0">
                <a:solidFill>
                  <a:srgbClr val="1A1A2E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Выполнить сложение (FADD)</a:t>
            </a:r>
            <a:endParaRPr lang="en-US" sz="184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925312" y="6847027"/>
            <a:ext cx="380390" cy="380390"/>
          </a:xfrm>
          <a:prstGeom prst="ellipse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25312" y="6847027"/>
            <a:ext cx="38039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40" b="1" dirty="0">
                <a:solidFill>
                  <a:srgbClr val="FFFFFF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5</a:t>
            </a:r>
            <a:endParaRPr lang="en-US" sz="144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37376" y="6759245"/>
            <a:ext cx="7388352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40" dirty="0">
                <a:solidFill>
                  <a:srgbClr val="1A1A2E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STORE → сохранить ссылку на объект</a:t>
            </a:r>
            <a:endParaRPr lang="en-US" sz="184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925312" y="7271309"/>
            <a:ext cx="7900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60" dirty="0">
                <a:solidFill>
                  <a:srgbClr val="6A1B9A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Много дополнительных шагов на каждую операцию.</a:t>
            </a:r>
            <a:endParaRPr lang="en-US" sz="176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309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такое Cython?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Cython — это Python + статическая типизация + компиляция в C</a:t>
            </a:r>
          </a:p>
          <a:p>
            <a:pPr>
              <a:defRPr sz="2200"/>
            </a:pPr>
            <a:r>
              <a:t>Код .pyx → C-код → native extension (.pyd / .so)</a:t>
            </a:r>
          </a:p>
          <a:p>
            <a:pPr>
              <a:defRPr sz="2200"/>
            </a:pPr>
            <a:r>
              <a:t>Позволяет убрать overhead Python-интерпретатора</a:t>
            </a:r>
          </a:p>
          <a:p>
            <a:pPr>
              <a:defRPr sz="2200"/>
            </a:pPr>
            <a:r>
              <a:t>Typed-переменные работают как обычные C-переменные</a:t>
            </a:r>
          </a:p>
          <a:p>
            <a:pPr>
              <a:defRPr sz="2200"/>
            </a:pPr>
            <a:r>
              <a:t>Можно вызывать C/C++ библиотеки напрямую</a:t>
            </a:r>
          </a:p>
          <a:p>
            <a:pPr>
              <a:defRPr sz="2200"/>
            </a:pPr>
            <a:r>
              <a:t>Главная цель: ускорение CPU-bound кода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629960"/>
            <a:ext cx="7309247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Три уровня оптимизации</a:t>
            </a:r>
            <a:endParaRPr lang="en-US" sz="4250" dirty="0"/>
          </a:p>
        </p:txBody>
      </p:sp>
      <p:sp>
        <p:nvSpPr>
          <p:cNvPr id="3" name="Shape 1"/>
          <p:cNvSpPr/>
          <p:nvPr/>
        </p:nvSpPr>
        <p:spPr>
          <a:xfrm>
            <a:off x="756642" y="1717715"/>
            <a:ext cx="4235053" cy="5881807"/>
          </a:xfrm>
          <a:prstGeom prst="roundRect">
            <a:avLst>
              <a:gd name="adj" fmla="val 4594"/>
            </a:avLst>
          </a:prstGeom>
          <a:solidFill>
            <a:srgbClr val="FFFFFF"/>
          </a:solidFill>
          <a:ln w="30480">
            <a:solidFill>
              <a:srgbClr val="C5C7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7122" y="1748195"/>
            <a:ext cx="4174093" cy="648533"/>
          </a:xfrm>
          <a:prstGeom prst="roundRect">
            <a:avLst>
              <a:gd name="adj" fmla="val 24363"/>
            </a:avLst>
          </a:prstGeom>
          <a:solidFill>
            <a:srgbClr val="EFF0F6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5" name="Text 3"/>
          <p:cNvSpPr/>
          <p:nvPr/>
        </p:nvSpPr>
        <p:spPr>
          <a:xfrm>
            <a:off x="2712006" y="1865948"/>
            <a:ext cx="324207" cy="4052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003221" y="2602706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Pure Python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03221" y="3064073"/>
            <a:ext cx="3741896" cy="1020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Всё на куче. Каждая переменная — </a:t>
            </a:r>
            <a:r>
              <a:rPr lang="en-US" sz="1700" dirty="0">
                <a:solidFill>
                  <a:srgbClr val="3D3E44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PyObject*</a:t>
            </a:r>
            <a:r>
              <a:rPr lang="en-US" sz="17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. Цикл интерпретируется байт за байтом.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003221" y="4316849"/>
            <a:ext cx="3741896" cy="2121098"/>
          </a:xfrm>
          <a:prstGeom prst="roundRect">
            <a:avLst>
              <a:gd name="adj" fmla="val 9173"/>
            </a:avLst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992505" y="4316849"/>
            <a:ext cx="3763327" cy="2121098"/>
          </a:xfrm>
          <a:prstGeom prst="roundRect">
            <a:avLst>
              <a:gd name="adj" fmla="val 1529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1262658" y="4532948"/>
            <a:ext cx="3223022" cy="168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3D3E44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def sum_squares(n):</a:t>
            </a:r>
            <a:endParaRPr lang="en-US" sz="170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3D3E44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s = 0.0</a:t>
            </a:r>
            <a:endParaRPr lang="en-US" sz="170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3D3E44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for i in range(n):</a:t>
            </a:r>
            <a:endParaRPr lang="en-US" sz="170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3D3E44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s += i * i</a:t>
            </a:r>
            <a:endParaRPr lang="en-US" sz="170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3D3E44"/>
                </a:solidFill>
                <a:highlight>
                  <a:srgbClr val="F2F2F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return 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197673" y="1717715"/>
            <a:ext cx="4235053" cy="5881807"/>
          </a:xfrm>
          <a:prstGeom prst="roundRect">
            <a:avLst>
              <a:gd name="adj" fmla="val 4594"/>
            </a:avLst>
          </a:prstGeom>
          <a:solidFill>
            <a:srgbClr val="FFFFFF"/>
          </a:solidFill>
          <a:ln w="30480">
            <a:solidFill>
              <a:srgbClr val="C5C7D2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2" name="Shape 10"/>
          <p:cNvSpPr/>
          <p:nvPr/>
        </p:nvSpPr>
        <p:spPr>
          <a:xfrm>
            <a:off x="5228153" y="1748195"/>
            <a:ext cx="4174093" cy="648533"/>
          </a:xfrm>
          <a:prstGeom prst="roundRect">
            <a:avLst>
              <a:gd name="adj" fmla="val 24363"/>
            </a:avLst>
          </a:prstGeom>
          <a:solidFill>
            <a:srgbClr val="EFF0F6"/>
          </a:solidFill>
          <a:ln/>
        </p:spPr>
      </p:sp>
      <p:sp>
        <p:nvSpPr>
          <p:cNvPr id="13" name="Text 11"/>
          <p:cNvSpPr/>
          <p:nvPr/>
        </p:nvSpPr>
        <p:spPr>
          <a:xfrm>
            <a:off x="7153037" y="1865948"/>
            <a:ext cx="324207" cy="4052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2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5444252" y="2602706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Cython untyped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444252" y="3064073"/>
            <a:ext cx="3741896" cy="1358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Тот же код, просто скомпилирован. Убирает dispatch-loop интерпретатора, но boxing </a:t>
            </a:r>
            <a:r>
              <a:rPr lang="en-US" sz="1700" dirty="0">
                <a:solidFill>
                  <a:srgbClr val="3D3E44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PyObject*</a:t>
            </a:r>
            <a:r>
              <a:rPr lang="en-US" sz="17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остаётся.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444252" y="4546402"/>
            <a:ext cx="374189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638705" y="1717715"/>
            <a:ext cx="4235053" cy="5881807"/>
          </a:xfrm>
          <a:prstGeom prst="roundRect">
            <a:avLst>
              <a:gd name="adj" fmla="val 4594"/>
            </a:avLst>
          </a:prstGeom>
          <a:solidFill>
            <a:srgbClr val="FFFFFF"/>
          </a:solidFill>
          <a:ln w="30480">
            <a:solidFill>
              <a:srgbClr val="C5C7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9185" y="1748195"/>
            <a:ext cx="4174093" cy="648533"/>
          </a:xfrm>
          <a:prstGeom prst="roundRect">
            <a:avLst>
              <a:gd name="adj" fmla="val 24363"/>
            </a:avLst>
          </a:prstGeom>
          <a:solidFill>
            <a:srgbClr val="EFF0F6"/>
          </a:solidFill>
          <a:ln/>
        </p:spPr>
      </p:sp>
      <p:sp>
        <p:nvSpPr>
          <p:cNvPr id="19" name="Text 17"/>
          <p:cNvSpPr/>
          <p:nvPr/>
        </p:nvSpPr>
        <p:spPr>
          <a:xfrm>
            <a:off x="11594068" y="1865948"/>
            <a:ext cx="324207" cy="4052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3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9885283" y="2602706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Cython typed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885283" y="3064073"/>
            <a:ext cx="3741896" cy="1028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Добавляем </a:t>
            </a:r>
            <a:r>
              <a:rPr lang="en-US" sz="1700" dirty="0">
                <a:solidFill>
                  <a:srgbClr val="3D3E44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cdef</a:t>
            </a:r>
            <a:r>
              <a:rPr lang="en-US" sz="17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. Переменные на стеке, цикл компилируется в чистый C </a:t>
            </a:r>
            <a:r>
              <a:rPr lang="en-US" sz="1700" dirty="0">
                <a:solidFill>
                  <a:srgbClr val="3D3E44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7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-loop.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885283" y="4324469"/>
            <a:ext cx="3741896" cy="2458879"/>
          </a:xfrm>
          <a:prstGeom prst="roundRect">
            <a:avLst>
              <a:gd name="adj" fmla="val 7913"/>
            </a:avLst>
          </a:prstGeom>
          <a:solidFill>
            <a:srgbClr val="F2F2F2"/>
          </a:solidFill>
          <a:ln/>
        </p:spPr>
      </p:sp>
      <p:sp>
        <p:nvSpPr>
          <p:cNvPr id="23" name="Shape 21"/>
          <p:cNvSpPr/>
          <p:nvPr/>
        </p:nvSpPr>
        <p:spPr>
          <a:xfrm>
            <a:off x="9874568" y="4324469"/>
            <a:ext cx="3763327" cy="2458879"/>
          </a:xfrm>
          <a:prstGeom prst="roundRect">
            <a:avLst>
              <a:gd name="adj" fmla="val 1319"/>
            </a:avLst>
          </a:prstGeom>
          <a:solidFill>
            <a:srgbClr val="F2F2F2"/>
          </a:solidFill>
          <a:ln/>
        </p:spPr>
      </p:sp>
      <p:sp>
        <p:nvSpPr>
          <p:cNvPr id="24" name="Text 22"/>
          <p:cNvSpPr/>
          <p:nvPr/>
        </p:nvSpPr>
        <p:spPr>
          <a:xfrm>
            <a:off x="10144720" y="4540568"/>
            <a:ext cx="3223022" cy="2026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3D3E44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cpdef cy_sum(int n):</a:t>
            </a:r>
            <a:endParaRPr lang="en-US" sz="170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3D3E44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cdef long long s = 0</a:t>
            </a:r>
            <a:endParaRPr lang="en-US" sz="170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3D3E44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cdef int i</a:t>
            </a:r>
            <a:endParaRPr lang="en-US" sz="170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3D3E44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for i in range(n):</a:t>
            </a:r>
            <a:endParaRPr lang="en-US" sz="170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3D3E44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s += i * i</a:t>
            </a:r>
            <a:endParaRPr lang="en-US" sz="170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3D3E44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return 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885283" y="7015163"/>
            <a:ext cx="374189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Speedup: ~60–200x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606862"/>
            <a:ext cx="10809684" cy="1351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600"/>
              </a:lnSpc>
              <a:buNone/>
            </a:pPr>
            <a:r>
              <a:rPr lang="ru-RU" sz="4800" dirty="0">
                <a:solidFill>
                  <a:srgbClr val="74767D"/>
                </a:solidFill>
                <a:latin typeface="Montserrat Medium" pitchFamily="34" charset="0"/>
              </a:rPr>
              <a:t>Реальные бенчмарки</a:t>
            </a:r>
            <a:endParaRPr lang="en-US" sz="4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40865C7-A28B-4737-93F5-AE6B18EA8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9978" y="2554234"/>
            <a:ext cx="8316486" cy="53156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674489"/>
            <a:ext cx="8118158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Когда Cython даёт максимум</a:t>
            </a:r>
            <a:endParaRPr lang="en-US" sz="4150" dirty="0"/>
          </a:p>
        </p:txBody>
      </p:sp>
      <p:sp>
        <p:nvSpPr>
          <p:cNvPr id="3" name="Shape 1"/>
          <p:cNvSpPr/>
          <p:nvPr/>
        </p:nvSpPr>
        <p:spPr>
          <a:xfrm>
            <a:off x="744260" y="1862138"/>
            <a:ext cx="3056096" cy="3130391"/>
          </a:xfrm>
          <a:prstGeom prst="roundRect">
            <a:avLst>
              <a:gd name="adj" fmla="val 6262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525" y="2082403"/>
            <a:ext cx="637937" cy="63793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9904" y="2257782"/>
            <a:ext cx="287060" cy="2870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4525" y="2919651"/>
            <a:ext cx="2615565" cy="664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Тесные числовые циклы</a:t>
            </a:r>
            <a:endParaRPr lang="en-US" sz="2050" dirty="0"/>
          </a:p>
        </p:txBody>
      </p:sp>
      <p:sp>
        <p:nvSpPr>
          <p:cNvPr id="7" name="Text 3"/>
          <p:cNvSpPr/>
          <p:nvPr/>
        </p:nvSpPr>
        <p:spPr>
          <a:xfrm>
            <a:off x="964525" y="3783568"/>
            <a:ext cx="2615565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O(n²), O(n³) — три вложенных цикла без Python-объектов внутри.</a:t>
            </a:r>
            <a:endParaRPr lang="en-US" sz="1650" dirty="0"/>
          </a:p>
        </p:txBody>
      </p:sp>
      <p:sp>
        <p:nvSpPr>
          <p:cNvPr id="8" name="Shape 4"/>
          <p:cNvSpPr/>
          <p:nvPr/>
        </p:nvSpPr>
        <p:spPr>
          <a:xfrm>
            <a:off x="3999667" y="1862138"/>
            <a:ext cx="3056215" cy="3130391"/>
          </a:xfrm>
          <a:prstGeom prst="roundRect">
            <a:avLst>
              <a:gd name="adj" fmla="val 6262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9932" y="2082403"/>
            <a:ext cx="637937" cy="637937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95311" y="2257782"/>
            <a:ext cx="287060" cy="2870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219932" y="2919651"/>
            <a:ext cx="2615684" cy="664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Обёртка C/C++ библиотек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4219932" y="3783568"/>
            <a:ext cx="2615684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Прямой доступ к C API без ctypes overhead.</a:t>
            </a:r>
            <a:endParaRPr lang="en-US" sz="1650" dirty="0"/>
          </a:p>
        </p:txBody>
      </p:sp>
      <p:sp>
        <p:nvSpPr>
          <p:cNvPr id="13" name="Shape 7"/>
          <p:cNvSpPr/>
          <p:nvPr/>
        </p:nvSpPr>
        <p:spPr>
          <a:xfrm>
            <a:off x="744260" y="5191839"/>
            <a:ext cx="6311622" cy="2138958"/>
          </a:xfrm>
          <a:prstGeom prst="roundRect">
            <a:avLst>
              <a:gd name="adj" fmla="val 8948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4525" y="5412105"/>
            <a:ext cx="637937" cy="637937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39904" y="5587484"/>
            <a:ext cx="287060" cy="28706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64525" y="6249353"/>
            <a:ext cx="3197304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nogil многопоточность</a:t>
            </a:r>
            <a:endParaRPr lang="en-US" sz="2050" dirty="0"/>
          </a:p>
        </p:txBody>
      </p:sp>
      <p:sp>
        <p:nvSpPr>
          <p:cNvPr id="17" name="Text 9"/>
          <p:cNvSpPr/>
          <p:nvPr/>
        </p:nvSpPr>
        <p:spPr>
          <a:xfrm>
            <a:off x="964525" y="6780967"/>
            <a:ext cx="5871091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Снятие GIL для параллельных вычислений.</a:t>
            </a:r>
            <a:endParaRPr lang="en-US" sz="1650" dirty="0"/>
          </a:p>
        </p:txBody>
      </p:sp>
      <p:sp>
        <p:nvSpPr>
          <p:cNvPr id="18" name="Shape 10"/>
          <p:cNvSpPr/>
          <p:nvPr/>
        </p:nvSpPr>
        <p:spPr>
          <a:xfrm>
            <a:off x="7582138" y="1862138"/>
            <a:ext cx="3056096" cy="477012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22860">
            <a:solidFill>
              <a:srgbClr val="C5C7D2"/>
            </a:solidFill>
            <a:prstDash val="solid"/>
          </a:ln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59278" y="1862138"/>
            <a:ext cx="91440" cy="477012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7886224" y="2097643"/>
            <a:ext cx="2516505" cy="664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Когда Cython не поможет</a:t>
            </a:r>
            <a:endParaRPr lang="en-US" sz="2050" dirty="0"/>
          </a:p>
        </p:txBody>
      </p:sp>
      <p:sp>
        <p:nvSpPr>
          <p:cNvPr id="21" name="Text 12"/>
          <p:cNvSpPr/>
          <p:nvPr/>
        </p:nvSpPr>
        <p:spPr>
          <a:xfrm>
            <a:off x="7886224" y="2961561"/>
            <a:ext cx="2516505" cy="3435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I/O bound задачи — узкое место не в CPU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Python-объекты внутри цикла — boxing остаётся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Матричная математика →  </a:t>
            </a:r>
            <a:r>
              <a:rPr lang="en-US" sz="16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NumPy / BLAS</a:t>
            </a:r>
            <a:endParaRPr lang="en-US" sz="1650" dirty="0"/>
          </a:p>
        </p:txBody>
      </p:sp>
      <p:sp>
        <p:nvSpPr>
          <p:cNvPr id="22" name="Shape 13"/>
          <p:cNvSpPr/>
          <p:nvPr/>
        </p:nvSpPr>
        <p:spPr>
          <a:xfrm>
            <a:off x="10837545" y="1862138"/>
            <a:ext cx="3056215" cy="477012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22860">
            <a:solidFill>
              <a:srgbClr val="C5C7D2"/>
            </a:solidFill>
            <a:prstDash val="solid"/>
          </a:ln>
        </p:spPr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14685" y="1862138"/>
            <a:ext cx="91440" cy="477012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11141631" y="2097643"/>
            <a:ext cx="2516624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Ограничения</a:t>
            </a:r>
            <a:endParaRPr lang="en-US" sz="2050" dirty="0"/>
          </a:p>
        </p:txBody>
      </p:sp>
      <p:sp>
        <p:nvSpPr>
          <p:cNvPr id="25" name="Text 15"/>
          <p:cNvSpPr/>
          <p:nvPr/>
        </p:nvSpPr>
        <p:spPr>
          <a:xfrm>
            <a:off x="11141631" y="2629257"/>
            <a:ext cx="2516624" cy="2454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Нужен C-компилятор (MSVC / gcc)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Нет JIT — в отличие от Numba / PyPy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3D3E44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.pyd</a:t>
            </a:r>
            <a:r>
              <a:rPr lang="en-US" sz="1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привязан к версии Python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3.13: no-GIL и free-threading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PEP 703: экспериментальная сборка CPython без Global Interpreter Lock</a:t>
            </a:r>
          </a:p>
          <a:p>
            <a:pPr>
              <a:defRPr sz="2200"/>
            </a:pPr>
            <a:r>
              <a:t>Потоки могут выполнять Python bytecode параллельно на нескольких ядрах</a:t>
            </a:r>
          </a:p>
          <a:p>
            <a:pPr>
              <a:defRPr sz="2200"/>
            </a:pPr>
            <a:r>
              <a:t>Раньше CPU-bound threading почти не масштабировался из-за GIL</a:t>
            </a:r>
          </a:p>
          <a:p>
            <a:pPr>
              <a:defRPr sz="2200"/>
            </a:pPr>
            <a:r>
              <a:t>Cython уже поддерживает nogil-блоки для вычислений</a:t>
            </a:r>
          </a:p>
          <a:p>
            <a:pPr>
              <a:defRPr sz="2200"/>
            </a:pPr>
            <a:r>
              <a:t>Free-threading уменьшает необходимость выносить код в multiprocessing</a:t>
            </a:r>
          </a:p>
          <a:p>
            <a:pPr>
              <a:defRPr sz="2200"/>
            </a:pPr>
            <a:r>
              <a:t>Но появляется цена: атомарные refcount, lock contention, совместимость расширений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Cython + no-GIL: почему это важно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Cython historically использовался как способ обходить GIL</a:t>
            </a:r>
          </a:p>
          <a:p>
            <a:pPr>
              <a:defRPr sz="2200"/>
            </a:pPr>
            <a:r>
              <a:t>with nogil: позволяет выполнять C-циклы параллельно</a:t>
            </a:r>
          </a:p>
          <a:p>
            <a:pPr>
              <a:defRPr sz="2200"/>
            </a:pPr>
            <a:r>
              <a:t>В эпоху free-threading Cython остаётся способом получить C-level performance</a:t>
            </a:r>
          </a:p>
          <a:p>
            <a:pPr>
              <a:defRPr sz="2200"/>
            </a:pPr>
            <a:r>
              <a:t>Typed loops + SIMD + cache locality всё ещё быстрее обычного Python</a:t>
            </a:r>
          </a:p>
          <a:p>
            <a:pPr>
              <a:defRPr sz="2200"/>
            </a:pPr>
            <a:r>
              <a:t>Особенно важно для scientific computing и backend inference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6D60B07-CAFF-407A-987A-04763C82F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594" y="4801553"/>
            <a:ext cx="8764223" cy="18195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</TotalTime>
  <Words>633</Words>
  <Application>Microsoft Office PowerPoint</Application>
  <PresentationFormat>Произвольный</PresentationFormat>
  <Paragraphs>116</Paragraphs>
  <Slides>9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8" baseType="lpstr">
      <vt:lpstr>Arial</vt:lpstr>
      <vt:lpstr>Montserrat Medium</vt:lpstr>
      <vt:lpstr>Consolas</vt:lpstr>
      <vt:lpstr>Calibri</vt:lpstr>
      <vt:lpstr>Calibri Light</vt:lpstr>
      <vt:lpstr>Consolas Light</vt:lpstr>
      <vt:lpstr>Helvetica Neue</vt:lpstr>
      <vt:lpstr>Inter Light</vt:lpstr>
      <vt:lpstr>Office Theme</vt:lpstr>
      <vt:lpstr>Презентация PowerPoint</vt:lpstr>
      <vt:lpstr>Презентация PowerPoint</vt:lpstr>
      <vt:lpstr>Презентация PowerPoint</vt:lpstr>
      <vt:lpstr>Что такое Cython?</vt:lpstr>
      <vt:lpstr>Презентация PowerPoint</vt:lpstr>
      <vt:lpstr>Презентация PowerPoint</vt:lpstr>
      <vt:lpstr>Презентация PowerPoint</vt:lpstr>
      <vt:lpstr>Python 3.13: no-GIL и free-threading</vt:lpstr>
      <vt:lpstr>Cython + no-GIL: почему это важно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Андрей Жданов</dc:creator>
  <cp:lastModifiedBy>Андрей Жданов</cp:lastModifiedBy>
  <cp:revision>11</cp:revision>
  <dcterms:created xsi:type="dcterms:W3CDTF">2026-05-01T11:27:34Z</dcterms:created>
  <dcterms:modified xsi:type="dcterms:W3CDTF">2026-05-16T13:06:23Z</dcterms:modified>
</cp:coreProperties>
</file>